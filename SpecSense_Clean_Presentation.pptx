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4"/>
    <p:sldMasterId id="214748367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y="5143500" cx="9144000"/>
  <p:notesSz cx="6858000" cy="9144000"/>
  <p:embeddedFontLst>
    <p:embeddedFont>
      <p:font typeface="Google Sans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2" Type="http://schemas.openxmlformats.org/officeDocument/2006/relationships/font" Target="fonts/GoogleSans-regular.fntdata"/><Relationship Id="rId23" Type="http://schemas.openxmlformats.org/officeDocument/2006/relationships/font" Target="fonts/GoogleSans-bold.fntdata"/><Relationship Id="rId24" Type="http://schemas.openxmlformats.org/officeDocument/2006/relationships/font" Target="fonts/GoogleSans-italic.fntdata"/><Relationship Id="rId25" Type="http://schemas.openxmlformats.org/officeDocument/2006/relationships/font" Target="fonts/GoogleSans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f97113ba4d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g3f97113ba4d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f97113ba4d_0_1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g3f97113ba4d_0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f97113ba4d_0_1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0" name="Google Shape;110;g3f97113ba4d_0_1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f971cbf117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f971cbf117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97113ba4d_0_1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2" name="Google Shape;122;g3f97113ba4d_0_1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f97113ba4d_0_1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8" name="Google Shape;128;g3f97113ba4d_0_1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f97113ba4d_0_1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" name="Google Shape;134;g3f97113ba4d_0_1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f97113ba4d_0_1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0" name="Google Shape;140;g3f97113ba4d_0_1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97113ba4d_0_1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6" name="Google Shape;146;g3f97113ba4d_0_1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f97113ba4d_0_1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2" name="Google Shape;152;g3f97113ba4d_0_1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f97113ba4d_0_1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8" name="Google Shape;158;g3f97113ba4d_0_1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f97113ba4d_0_1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4" name="Google Shape;164;g3f97113ba4d_0_1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f97113ba4d_0_1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0" name="Google Shape;170;g3f97113ba4d_0_1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f97113ba4d_0_1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6" name="Google Shape;176;g3f97113ba4d_0_1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6" name="Google Shape;56;p1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7" name="Google Shape;57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60" name="Google Shape;60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3" name="Google Shape;63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4" name="Google Shape;64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7" name="Google Shape;67;p17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8" name="Google Shape;68;p17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9" name="Google Shape;69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2" name="Google Shape;72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9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75" name="Google Shape;75;p19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6" name="Google Shape;76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0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79" name="Google Shape;79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21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83" name="Google Shape;83;p21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84" name="Google Shape;84;p21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85" name="Google Shape;85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2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88" name="Google Shape;88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3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1" name="Google Shape;91;p23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92" name="Google Shape;92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120"/>
        </a:solidFill>
        <a:effectLst/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5"/>
          <p:cNvSpPr txBox="1"/>
          <p:nvPr/>
        </p:nvSpPr>
        <p:spPr>
          <a:xfrm>
            <a:off x="436625" y="8810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defRPr sz="2200" b="1">
                <a:solidFill>
                  <a:srgbClr val="FFFFFF"/>
                </a:solidFill>
                <a:latin typeface="Arial"/>
              </a:defRPr>
            </a:pPr>
            <a:r>
              <a:t>SpecSense — Industrial Catalog Intelligence Engine</a:t>
            </a:r>
            <a:endParaRPr b="1" i="0" sz="4000" u="none" cap="none" strike="noStrike">
              <a:solidFill>
                <a:schemeClr val="accent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01" name="Google Shape;101;p25"/>
          <p:cNvSpPr txBox="1"/>
          <p:nvPr/>
        </p:nvSpPr>
        <p:spPr>
          <a:xfrm>
            <a:off x="609900" y="1711275"/>
            <a:ext cx="7924200" cy="198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23850" marL="457200" marR="0" rtl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rgbClr val="434343"/>
              </a:buClr>
              <a:buSzPts val="1500"/>
              <a:buFont typeface="Google Sans"/>
              <a:buChar char="●"/>
              <a:defRPr sz="1300">
                <a:solidFill>
                  <a:srgbClr val="CBD5E1"/>
                </a:solidFill>
                <a:latin typeface="Arial"/>
              </a:defRPr>
            </a:pPr>
            <a:r>
              <a:t>•  Domain Focus: Automated Industrial Catalog Content Enrichment &amp; Controlled Vocabulary Normalization</a:t>
            </a:r>
            <a:endParaRPr b="0" i="0" sz="1500" u="none" cap="none" strike="noStrike">
              <a:solidFill>
                <a:srgbClr val="434343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>
              <a:spcAft>
                <a:spcPts val="800"/>
              </a:spcAft>
              <a:defRPr sz="1200">
                <a:solidFill>
                  <a:srgbClr val="CBD5E1"/>
                </a:solidFill>
                <a:latin typeface="Arial"/>
              </a:defRPr>
            </a:pPr>
            <a:r>
              <a:rPr sz="1250" b="1">
                <a:solidFill>
                  <a:srgbClr val="1E3A8A"/>
                </a:solidFill>
                <a:latin typeface="Arial"/>
              </a:rPr>
              <a:t>•  Problem Statement: </a:t>
            </a:r>
            <a:r>
              <a:rPr sz="1200" b="0">
                <a:solidFill>
                  <a:srgbClr val="334155"/>
                </a:solidFill>
                <a:latin typeface="Arial"/>
              </a:rPr>
              <a:t>Raw distributor feeds are cryptic ("3/8 CPLG BRS 150#"), missing attributes, and use conflicting units.</a:t>
            </a:r>
          </a:p>
          <a:p>
            <a:pPr>
              <a:spcAft>
                <a:spcPts val="800"/>
              </a:spcAft>
              <a:defRPr sz="1200">
                <a:solidFill>
                  <a:srgbClr val="CBD5E1"/>
                </a:solidFill>
                <a:latin typeface="Arial"/>
              </a:defRPr>
            </a:pPr>
            <a:r>
              <a:t>•  Our Solution: End-to-end enrichment pipeline that ingests minimal inputs (PN, Brand, Short Desc), discovers authentic manufacturer sources, cross-validates specs via multi-source consensus, standardizes against Standard Enterprise LOV dictionaries, and builds search-ready records.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Compliance Engine: Strict enforcement of Industry Standard Rule Book: Invoice Desc (≤40 CAPS), Mobile Desc (60-80 chars), Decimal-to-Fraction conversions, and Approved Brand/UOM normalization.</a:t>
            </a:r>
          </a:p>
          <a:p>
            <a:pPr>
              <a:spcAft>
                <a:spcPts val="800"/>
              </a:spcAft>
              <a:defRPr sz="1200">
                <a:solidFill>
                  <a:srgbClr val="CBD5E1"/>
                </a:solidFill>
                <a:latin typeface="Arial"/>
              </a:defRPr>
            </a:pPr>
            <a:r>
              <a:rPr sz="1250" b="1">
                <a:solidFill>
                  <a:srgbClr val="1E3A8A"/>
                </a:solidFill>
                <a:latin typeface="Arial"/>
              </a:rPr>
              <a:t>•  Scalability &amp; Trust: </a:t>
            </a:r>
            <a:r>
              <a:rPr sz="1200" b="0">
                <a:solidFill>
                  <a:srgbClr val="334155"/>
                </a:solidFill>
                <a:latin typeface="Arial"/>
              </a:rPr>
              <a:t>Zero-Quota DuckDuckGo/Bing discovery, 100% click-to-source audit citations, human review queue, and 252-column enterprise CSV delivery.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CBD5E1"/>
                </a:solidFill>
                <a:latin typeface="Arial"/>
              </a:defRPr>
            </a:p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  <a:effectLst/>
      </p:bgPr>
    </p:bg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6"/>
          <p:cNvSpPr txBox="1"/>
          <p:nvPr/>
        </p:nvSpPr>
        <p:spPr>
          <a:xfrm>
            <a:off x="548640" y="594360"/>
            <a:ext cx="8046720" cy="3931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>
                <a:srgbClr val="000000"/>
              </a:buClr>
              <a:buSzPts val="1800"/>
              <a:buFont typeface="Arial"/>
              <a:buNone/>
              <a:defRPr sz="2200" b="1">
                <a:solidFill>
                  <a:srgbClr val="0F172A"/>
                </a:solidFill>
                <a:latin typeface="Arial"/>
              </a:defRPr>
            </a:pPr>
            <a:r>
              <a:t>Executive Summary</a:t>
            </a:r>
            <a:endParaRPr b="1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>
              <a:spcAft>
                <a:spcPts val="1200"/>
              </a:spcAft>
              <a:defRPr sz="1300">
                <a:solidFill>
                  <a:srgbClr val="334155"/>
                </a:solidFill>
                <a:latin typeface="Arial"/>
              </a:defRPr>
            </a:pPr>
            <a:r>
              <a:t>•  Product: SpecSense — Enterprise Industrial Catalog Intelligence &amp; Enrichment Engine</a:t>
            </a:r>
          </a:p>
          <a:p>
            <a:pPr>
              <a:spcAft>
                <a:spcPts val="1200"/>
              </a:spcAft>
              <a:defRPr sz="1300">
                <a:solidFill>
                  <a:srgbClr val="334155"/>
                </a:solidFill>
                <a:latin typeface="Arial"/>
              </a:defRPr>
            </a:pPr>
            <a:r>
              <a:t>•  Target Industry: B2B Industrial Distribution, MRO, Hardware, Electrical, Plumbing &amp; Tools</a:t>
            </a:r>
          </a:p>
          <a:p>
            <a:pPr>
              <a:spcAft>
                <a:spcPts val="1200"/>
              </a:spcAft>
              <a:defRPr sz="1300">
                <a:solidFill>
                  <a:srgbClr val="334155"/>
                </a:solidFill>
                <a:latin typeface="Arial"/>
              </a:defRPr>
            </a:pPr>
            <a:r>
              <a:t>•  Core Value: Automatically transforms raw, cryptic distributor feeds into complete, search-ready product records</a:t>
            </a:r>
          </a:p>
          <a:p>
            <a:pPr>
              <a:spcAft>
                <a:spcPts val="1200"/>
              </a:spcAft>
              <a:defRPr sz="1300">
                <a:solidFill>
                  <a:srgbClr val="334155"/>
                </a:solidFill>
                <a:latin typeface="Arial"/>
              </a:defRPr>
            </a:pPr>
            <a:r>
              <a:t>•  Cost Efficiency: 99.8% cost reduction per SKU ($15.00 manual labor -&gt; &lt;$0.003 AI pipeline), zero invented data</a:t>
            </a:r>
          </a:p>
          <a:p>
            <a:pPr>
              <a:spcAft>
                <a:spcPts val="1200"/>
              </a:spcAft>
              <a:defRPr sz="1300">
                <a:solidFill>
                  <a:srgbClr val="334155"/>
                </a:solidFill>
                <a:latin typeface="Arial"/>
              </a:defRPr>
            </a:pPr>
            <a:r>
              <a:t>•  Architecture: Production microservice powered by FastAPI, multi-LLM consensus failover, and zero-quota discovery</a:t>
            </a:r>
          </a:p>
          <a:p>
            <a:pPr>
              <a:spcAft>
                <a:spcPts val="1200"/>
              </a:spcAft>
              <a:defRPr sz="1300">
                <a:solidFill>
                  <a:srgbClr val="334155"/>
                </a:solidFill>
                <a:latin typeface="Arial"/>
              </a:defRPr>
            </a:pPr>
            <a:r>
              <a:t>•  Deployment &amp; Code: Fully containerized and open-source: https://github.com/srivardhxn/Specsense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583680" y="1097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4748B"/>
                </a:solidFill>
                <a:latin typeface="Arial"/>
              </a:defRPr>
            </a:pPr>
            <a:r>
              <a:t>SPECSENSE | PRODUCT INTELLIGENCE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  <a:effectLst/>
      </p:bgPr>
    </p:bg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7"/>
          <p:cNvSpPr txBox="1"/>
          <p:nvPr/>
        </p:nvSpPr>
        <p:spPr>
          <a:xfrm>
            <a:off x="390000" y="775625"/>
            <a:ext cx="8364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  <a:buClr>
                <a:srgbClr val="000000"/>
              </a:buClr>
              <a:buSzPts val="1800"/>
              <a:buFont typeface="Arial"/>
              <a:buNone/>
              <a:defRPr sz="2400" b="1" i="0">
                <a:solidFill>
                  <a:srgbClr val="0F172A"/>
                </a:solidFill>
                <a:latin typeface="Arial"/>
              </a:defRPr>
            </a:pPr>
            <a:r>
              <a:t>Brief about your solution</a:t>
            </a:r>
            <a:endParaRPr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>
              <a:spcAft>
                <a:spcPts val="1000"/>
              </a:spcAft>
              <a:defRPr sz="1300" b="0" i="0">
                <a:solidFill>
                  <a:srgbClr val="334155"/>
                </a:solidFill>
                <a:latin typeface="Arial"/>
              </a:defRPr>
            </a:pPr>
            <a:r>
              <a:t>SpecSense is an AI-powered product intelligence platform designed to automate the manual, error-prone enrichment of industrial commerce catalogs. It turns minimal, cryptic inputs—such as a Part Number, Brand name, and short description—into rich, structured, and commerce-ready product data sheets in seconds.</a:t>
            </a:r>
          </a:p>
          <a:p>
            <a:pPr>
              <a:defRPr sz="1300" b="0" i="0">
                <a:solidFill>
                  <a:srgbClr val="334155"/>
                </a:solidFill>
                <a:latin typeface="Arial"/>
              </a:defRPr>
            </a:pPr>
            <a:r>
              <a:t>The platform features a RAG-first architecture that checks local product reference databases before falling back to live web search on authentic manufacturer websites. Using advanced LLM agents with multi-source consensus scoring and clickable direct citations, SpecSense delivers verified, hallucination-free specifications, ensuring absolute data trust.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>
                <a:solidFill>
                  <a:srgbClr val="0F172A"/>
                </a:solidFill>
                <a:latin typeface="Arial"/>
              </a:defRPr>
            </a:pPr>
          </a:p>
        </p:txBody>
      </p:sp>
      <p:sp>
        <p:nvSpPr>
          <p:cNvPr id="115" name="TextBox 114"/>
          <p:cNvSpPr txBox="1"/>
          <p:nvPr/>
        </p:nvSpPr>
        <p:spPr>
          <a:xfrm>
            <a:off x="6583680" y="1097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0F172A"/>
                </a:solidFill>
                <a:latin typeface="Arial"/>
              </a:defRPr>
            </a:pPr>
            <a:r>
              <a:t>SPECSENSE | PRODUCT INTELLIGENCE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  <a:effectLst/>
      </p:bgPr>
    </p:bg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8"/>
          <p:cNvSpPr txBox="1"/>
          <p:nvPr>
            <p:ph type="ctrTitle"/>
          </p:nvPr>
        </p:nvSpPr>
        <p:spPr>
          <a:xfrm>
            <a:off x="224133" y="743250"/>
            <a:ext cx="8520600" cy="205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400"/>
              </a:spcAft>
              <a:buSzPts val="990"/>
              <a:buNone/>
              <a:defRPr sz="1500" b="1" i="0">
                <a:solidFill>
                  <a:srgbClr val="0F172A"/>
                </a:solidFill>
                <a:latin typeface="Arial"/>
              </a:defRPr>
            </a:pPr>
            <a:r>
              <a:t>1. How does your solution enrich minimal product information?</a:t>
            </a:r>
            <a:endParaRPr sz="1200"/>
          </a:p>
          <a:p>
            <a:pPr>
              <a:spcAft>
                <a:spcPts val="200"/>
              </a:spcAft>
              <a:defRPr sz="1100" b="0" i="1">
                <a:solidFill>
                  <a:srgbClr val="334155"/>
                </a:solidFill>
                <a:latin typeface="Arial"/>
              </a:defRPr>
            </a:pPr>
            <a:r>
              <a:t>Briefly explain how your solution transforms limited inputs (e.g., Part Number, Brand, Short Description) into rich product intelligence.</a:t>
            </a:r>
          </a:p>
          <a:p>
            <a:pPr>
              <a:spcAft>
                <a:spcPts val="1200"/>
              </a:spcAft>
              <a:defRPr sz="1200" b="0" i="0">
                <a:solidFill>
                  <a:srgbClr val="334155"/>
                </a:solidFill>
                <a:latin typeface="Arial"/>
              </a:defRPr>
            </a:pPr>
            <a:r>
              <a:t>• Answer: SpecSense craws manufacturer web pages and technical sheets using zero-quota multi-engine search (DuckDuckGo/Bing) and local RAG datasets. It extracts rich specifications, category data, and technical attributes from crawled HTML and PDF manuals using Gemini/Groq LLMs.</a:t>
            </a:r>
          </a:p>
          <a:p>
            <a:pPr>
              <a:defRPr sz="1500" b="1" i="0">
                <a:solidFill>
                  <a:srgbClr val="334155"/>
                </a:solidFill>
                <a:latin typeface="Arial"/>
              </a:defRPr>
            </a:pPr>
            <a:r>
              <a:t>2. How does your solution ensure accuracy and trust in the generated product data?</a:t>
            </a:r>
          </a:p>
          <a:p>
            <a:pPr>
              <a:spcAft>
                <a:spcPts val="200"/>
              </a:spcAft>
              <a:defRPr sz="1100" b="0" i="1">
                <a:solidFill>
                  <a:srgbClr val="334155"/>
                </a:solidFill>
                <a:latin typeface="Arial"/>
              </a:defRPr>
            </a:pPr>
            <a:r>
              <a:t>Describe your validation strategy. This may include: (Confidence scoring, Multi-source verification, Human review, Rule-based validation, AI validation, Other approaches)</a:t>
            </a:r>
          </a:p>
          <a:p>
            <a:pPr>
              <a:spcAft>
                <a:spcPts val="1200"/>
              </a:spcAft>
              <a:defRPr sz="1200" b="0" i="0">
                <a:solidFill>
                  <a:srgbClr val="334155"/>
                </a:solidFill>
                <a:latin typeface="Arial"/>
              </a:defRPr>
            </a:pPr>
            <a:r>
              <a:t>• Answer: Validates data using Multi-Source Consensus verification. Values are only marked high-confidence if two or more sources agree. Hallucinations are prevented by linking a clickable source URL to every single attribute, with low-confidence items routed to a Human Review Dashboard.</a:t>
            </a:r>
          </a:p>
          <a:p>
            <a:pPr>
              <a:defRPr sz="1500" b="1" i="0">
                <a:solidFill>
                  <a:srgbClr val="334155"/>
                </a:solidFill>
                <a:latin typeface="Arial"/>
              </a:defRPr>
            </a:pPr>
            <a:r>
              <a:t>3. What makes your solution scalable for enterprise product catalogs?</a:t>
            </a:r>
          </a:p>
          <a:p>
            <a:pPr>
              <a:spcAft>
                <a:spcPts val="200"/>
              </a:spcAft>
              <a:defRPr sz="1100" b="0" i="1">
                <a:solidFill>
                  <a:srgbClr val="334155"/>
                </a:solidFill>
                <a:latin typeface="Arial"/>
              </a:defRPr>
            </a:pPr>
            <a:r>
              <a:t>Describe how your solution would handle: Large product catalogs, New manufacturers, Different document formats, Continuous product updates</a:t>
            </a:r>
          </a:p>
          <a:p>
            <a:pPr>
              <a:defRPr sz="1200" b="0" i="0">
                <a:solidFill>
                  <a:srgbClr val="334155"/>
                </a:solidFill>
                <a:latin typeface="Arial"/>
              </a:defRPr>
            </a:pPr>
            <a:r>
              <a:t>• Answer: Built with asynchronous, concurrent batch processing APIs (/api/batch) for catalog-scale migrations. Utilizes schema-agnostic extraction (up to 50 parameters per SKU) to support new categories, uses local caching to save API costs, and includes auto model/key rotation for 100% uptime.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>
                <a:solidFill>
                  <a:srgbClr val="0F172A"/>
                </a:solidFill>
                <a:latin typeface="Arial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6583680" y="1097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0F172A"/>
                </a:solidFill>
                <a:latin typeface="Arial"/>
              </a:defRPr>
            </a:pPr>
            <a:r>
              <a:t>SPECSENSE | PRODUCT INTELLIGENCE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  <a:effectLst/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9"/>
          <p:cNvSpPr txBox="1"/>
          <p:nvPr/>
        </p:nvSpPr>
        <p:spPr>
          <a:xfrm>
            <a:off x="183250" y="818550"/>
            <a:ext cx="8784300" cy="141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800"/>
              <a:buFont typeface="Arial"/>
              <a:buNone/>
              <a:defRPr sz="2400" b="1" i="0">
                <a:solidFill>
                  <a:srgbClr val="0F172A"/>
                </a:solidFill>
                <a:latin typeface="Arial"/>
              </a:defRPr>
            </a:pPr>
            <a:r>
              <a:t>Opportunities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>
              <a:defRPr sz="1400" b="1" i="0">
                <a:solidFill>
                  <a:srgbClr val="334155"/>
                </a:solidFill>
                <a:latin typeface="Arial"/>
              </a:defRPr>
            </a:pPr>
            <a:r>
              <a:t>How different is it from any of the other existing ideas?</a:t>
            </a:r>
          </a:p>
          <a:p>
            <a:pPr>
              <a:spcAft>
                <a:spcPts val="1000"/>
              </a:spcAft>
              <a:defRPr sz="1300" b="0" i="0">
                <a:solidFill>
                  <a:srgbClr val="334155"/>
                </a:solidFill>
                <a:latin typeface="Arial"/>
              </a:defRPr>
            </a:pPr>
            <a:r>
              <a:t>• SpecSense uses dynamic, live queries combined with multi-source consensus validation rather than relying on static, outdated databases or hallucinating LLMs.</a:t>
            </a:r>
          </a:p>
          <a:p>
            <a:pPr>
              <a:defRPr sz="1400" b="1" i="0">
                <a:solidFill>
                  <a:srgbClr val="334155"/>
                </a:solidFill>
                <a:latin typeface="Arial"/>
              </a:defRPr>
            </a:pPr>
            <a:r>
              <a:t>How will it be able to solve the problem statement given?</a:t>
            </a:r>
          </a:p>
          <a:p>
            <a:pPr>
              <a:spcAft>
                <a:spcPts val="1000"/>
              </a:spcAft>
              <a:defRPr sz="1300" b="0" i="0">
                <a:solidFill>
                  <a:srgbClr val="334155"/>
                </a:solidFill>
                <a:latin typeface="Arial"/>
              </a:defRPr>
            </a:pPr>
            <a:r>
              <a:t>• It automates the tedious bottleneck of manual catalog data entry, reducing catalog-ready SKU creation from weeks of labor down to seconds of automated processing.</a:t>
            </a:r>
          </a:p>
          <a:p>
            <a:pPr>
              <a:defRPr sz="1400" b="1" i="0">
                <a:solidFill>
                  <a:srgbClr val="334155"/>
                </a:solidFill>
                <a:latin typeface="Arial"/>
              </a:defRPr>
            </a:pPr>
            <a:r>
              <a:t>USP of the proposed solution</a:t>
            </a:r>
          </a:p>
          <a:p>
            <a:pPr>
              <a:defRPr sz="1300" b="0" i="0">
                <a:solidFill>
                  <a:srgbClr val="334155"/>
                </a:solidFill>
                <a:latin typeface="Arial"/>
              </a:defRPr>
            </a:pPr>
            <a:r>
              <a:t>• Consensus-driven, zero-hallucination product intelligence with click-to-source URL explainability for absolute data trust.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>
                <a:solidFill>
                  <a:srgbClr val="0F172A"/>
                </a:solidFill>
                <a:latin typeface="Arial"/>
              </a:defRPr>
            </a:pPr>
          </a:p>
        </p:txBody>
      </p:sp>
      <p:sp>
        <p:nvSpPr>
          <p:cNvPr id="127" name="TextBox 126"/>
          <p:cNvSpPr txBox="1"/>
          <p:nvPr/>
        </p:nvSpPr>
        <p:spPr>
          <a:xfrm>
            <a:off x="6583680" y="1097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0F172A"/>
                </a:solidFill>
                <a:latin typeface="Arial"/>
              </a:defRPr>
            </a:pPr>
            <a:r>
              <a:t>SPECSENSE | PRODUCT INTELLIGENCE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  <a:effectLst/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30"/>
          <p:cNvSpPr txBox="1"/>
          <p:nvPr/>
        </p:nvSpPr>
        <p:spPr>
          <a:xfrm>
            <a:off x="195475" y="855225"/>
            <a:ext cx="8698800" cy="5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rgbClr val="000000"/>
              </a:buClr>
              <a:buSzPts val="1800"/>
              <a:buFont typeface="Arial"/>
              <a:buNone/>
              <a:defRPr sz="2400" b="1" i="0">
                <a:solidFill>
                  <a:srgbClr val="0F172A"/>
                </a:solidFill>
                <a:latin typeface="Arial"/>
              </a:defRPr>
            </a:pPr>
            <a:r>
              <a:t>List of features offered by the solution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>
              <a:spcAft>
                <a:spcPts val="500"/>
              </a:spcAft>
              <a:defRPr>
                <a:solidFill>
                  <a:srgbClr val="334155"/>
                </a:solidFill>
                <a:latin typeface="Arial"/>
              </a:defRPr>
            </a:pPr>
            <a:r>
              <a:rPr sz="1150" b="1">
                <a:solidFill>
                  <a:srgbClr val="0F172A"/>
                </a:solidFill>
                <a:latin typeface="Arial"/>
              </a:rPr>
              <a:t>•  Zero-Quota Multi-Engine Discovery: </a:t>
            </a:r>
            <a:r>
              <a:rPr sz="1100" b="0">
                <a:solidFill>
                  <a:srgbClr val="475569"/>
                </a:solidFill>
                <a:latin typeface="Arial"/>
              </a:rPr>
              <a:t>RAG-first cache check with automatic fallback to DuckDuckGo Lite &amp; Bing, bypassing search API limits with 100% manufacturer sourcing.</a:t>
            </a:r>
          </a:p>
          <a:p>
            <a:pPr>
              <a:spcAft>
                <a:spcPts val="500"/>
              </a:spcAft>
              <a:defRPr>
                <a:solidFill>
                  <a:srgbClr val="334155"/>
                </a:solidFill>
                <a:latin typeface="Arial"/>
              </a:defRPr>
            </a:pPr>
            <a:r>
              <a:rPr sz="1150" b="1">
                <a:solidFill>
                  <a:srgbClr val="0F172A"/>
                </a:solidFill>
                <a:latin typeface="Arial"/>
              </a:rPr>
              <a:t>•  Multi-Source Consensus &amp; Explainability: </a:t>
            </a:r>
            <a:r>
              <a:rPr sz="1100" b="0">
                <a:solidFill>
                  <a:srgbClr val="475569"/>
                </a:solidFill>
                <a:latin typeface="Arial"/>
              </a:rPr>
              <a:t>Extracts specs independently per source; 2+ agreement earns high confidence with direct click-to-source citations for 100% auditability.</a:t>
            </a:r>
          </a:p>
          <a:p>
            <a:pPr>
              <a:spcAft>
                <a:spcPts val="500"/>
              </a:spcAft>
              <a:defRPr>
                <a:solidFill>
                  <a:srgbClr val="334155"/>
                </a:solidFill>
                <a:latin typeface="Arial"/>
              </a:defRPr>
            </a:pPr>
            <a:r>
              <a:t>•  Multi-Length Description Engine: Builds strict multi-length descriptions: Invoice Desc (≤40 chars ALL CAPS), Mobile Desc (60–80 chars), and SEO title formulas.</a:t>
            </a:r>
          </a:p>
          <a:p>
            <a:pPr>
              <a:spcAft>
                <a:spcPts val="500"/>
              </a:spcAft>
              <a:defRPr>
                <a:solidFill>
                  <a:srgbClr val="334155"/>
                </a:solidFill>
                <a:latin typeface="Arial"/>
              </a:defRPr>
            </a:pPr>
            <a:r>
              <a:t>•  Controlled Vocabulary &amp; LOV Normalization: Real-time matching against Master UOM Standards, Approved Brand/Manufacturer list, and Fittings LOV dictionaries.</a:t>
            </a:r>
          </a:p>
          <a:p>
            <a:pPr>
              <a:spcAft>
                <a:spcPts val="500"/>
              </a:spcAft>
              <a:defRPr>
                <a:solidFill>
                  <a:srgbClr val="334155"/>
                </a:solidFill>
                <a:latin typeface="Arial"/>
              </a:defRPr>
            </a:pPr>
            <a:r>
              <a:rPr sz="1150" b="1">
                <a:solidFill>
                  <a:srgbClr val="0F172A"/>
                </a:solidFill>
                <a:latin typeface="Arial"/>
              </a:rPr>
              <a:t>•  Decimal-to-Fraction Engine: </a:t>
            </a:r>
            <a:r>
              <a:rPr sz="1100" b="0">
                <a:solidFill>
                  <a:srgbClr val="475569"/>
                </a:solidFill>
                <a:latin typeface="Arial"/>
              </a:rPr>
              <a:t>Converts imperial dimensions (0.5 → 1/2 in, 0.25 → 1/4 in) to match industrial search habits.</a:t>
            </a:r>
          </a:p>
          <a:p>
            <a:pPr>
              <a:spcAft>
                <a:spcPts val="500"/>
              </a:spcAft>
              <a:defRPr>
                <a:solidFill>
                  <a:srgbClr val="334155"/>
                </a:solidFill>
                <a:latin typeface="Arial"/>
              </a:defRPr>
            </a:pPr>
            <a:r>
              <a:rPr sz="1150" b="1">
                <a:solidFill>
                  <a:srgbClr val="0F172A"/>
                </a:solidFill>
                <a:latin typeface="Arial"/>
              </a:rPr>
              <a:t>•  Human-in-the-Loop Review Queue: </a:t>
            </a:r>
            <a:r>
              <a:rPr sz="1100" b="0">
                <a:solidFill>
                  <a:srgbClr val="475569"/>
                </a:solidFill>
                <a:latin typeface="Arial"/>
              </a:rPr>
              <a:t>Intuitive split-screen dashboard where editors review and approve low-confidence fields, closing the audit loop.</a:t>
            </a:r>
          </a:p>
          <a:p>
            <a:pPr>
              <a:spcAft>
                <a:spcPts val="500"/>
              </a:spcAft>
              <a:defRPr>
                <a:solidFill>
                  <a:srgbClr val="334155"/>
                </a:solidFill>
                <a:latin typeface="Arial"/>
              </a:defRPr>
            </a:pPr>
            <a:r>
              <a:rPr sz="1150" b="1">
                <a:solidFill>
                  <a:srgbClr val="0F172A"/>
                </a:solidFill>
                <a:latin typeface="Arial"/>
              </a:rPr>
              <a:t>•  Catalog-Scale Batching &amp; 252-Col Export: </a:t>
            </a:r>
            <a:r>
              <a:rPr sz="1100" b="0">
                <a:solidFill>
                  <a:srgbClr val="475569"/>
                </a:solidFill>
                <a:latin typeface="Arial"/>
              </a:rPr>
              <a:t>Concurrent multi-SKU processing with one-click export to the exact 252-column Unilog Ground Truth schema.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>
                <a:solidFill>
                  <a:srgbClr val="0F172A"/>
                </a:solidFill>
                <a:latin typeface="Arial"/>
              </a:defRPr>
            </a:pPr>
          </a:p>
        </p:txBody>
      </p:sp>
      <p:sp>
        <p:nvSpPr>
          <p:cNvPr id="133" name="TextBox 132"/>
          <p:cNvSpPr txBox="1"/>
          <p:nvPr/>
        </p:nvSpPr>
        <p:spPr>
          <a:xfrm>
            <a:off x="6583680" y="1097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0F172A"/>
                </a:solidFill>
                <a:latin typeface="Arial"/>
              </a:defRPr>
            </a:pPr>
            <a:r>
              <a:t>SPECSENSE | PRODUCT INTELLIGENCE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  <a:effectLst/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31"/>
          <p:cNvSpPr txBox="1"/>
          <p:nvPr/>
        </p:nvSpPr>
        <p:spPr>
          <a:xfrm>
            <a:off x="195475" y="830775"/>
            <a:ext cx="8772000" cy="51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  <a:buClr>
                <a:srgbClr val="000000"/>
              </a:buClr>
              <a:buSzPts val="1800"/>
              <a:buFont typeface="Arial"/>
              <a:buNone/>
              <a:defRPr sz="2400" b="1" i="0">
                <a:solidFill>
                  <a:srgbClr val="0F172A"/>
                </a:solidFill>
                <a:latin typeface="Arial"/>
              </a:defRPr>
            </a:pPr>
            <a:r>
              <a:t>Process flow diagram or Use-case diagram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138" name="Picture 137" descr="process_f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440180"/>
            <a:ext cx="8229600" cy="3086100"/>
          </a:xfrm>
          <a:prstGeom prst="rect">
            <a:avLst/>
          </a:prstGeom>
        </p:spPr>
      </p:pic>
      <p:sp>
        <p:nvSpPr>
          <p:cNvPr id="139" name="Rectangle 138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>
                <a:solidFill>
                  <a:srgbClr val="0F172A"/>
                </a:solidFill>
                <a:latin typeface="Arial"/>
              </a:defRPr>
            </a:pPr>
          </a:p>
        </p:txBody>
      </p:sp>
      <p:sp>
        <p:nvSpPr>
          <p:cNvPr id="140" name="TextBox 139"/>
          <p:cNvSpPr txBox="1"/>
          <p:nvPr/>
        </p:nvSpPr>
        <p:spPr>
          <a:xfrm>
            <a:off x="6583680" y="1097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0F172A"/>
                </a:solidFill>
                <a:latin typeface="Arial"/>
              </a:defRPr>
            </a:pPr>
            <a:r>
              <a:t>SPECSENSE | PRODUCT INTELLIGENCE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  <a:effectLst/>
      </p:bgPr>
    </p:bg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32"/>
          <p:cNvSpPr txBox="1"/>
          <p:nvPr/>
        </p:nvSpPr>
        <p:spPr>
          <a:xfrm>
            <a:off x="207700" y="879650"/>
            <a:ext cx="87231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  <a:buClr>
                <a:srgbClr val="000000"/>
              </a:buClr>
              <a:buSzPts val="1800"/>
              <a:buFont typeface="Arial"/>
              <a:buNone/>
              <a:defRPr sz="2400" b="1" i="0">
                <a:solidFill>
                  <a:srgbClr val="0F172A"/>
                </a:solidFill>
                <a:latin typeface="Arial"/>
              </a:defRPr>
            </a:pPr>
            <a:r>
              <a:t>Wireframes/Mock diagrams of the proposed solution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144" name="Picture_Wireframe_8" descr="slide_8_wirefr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435608"/>
            <a:ext cx="8229600" cy="3154680"/>
          </a:xfrm>
          <a:prstGeom prst="rect">
            <a:avLst/>
          </a:prstGeom>
        </p:spPr>
      </p:pic>
      <p:sp>
        <p:nvSpPr>
          <p:cNvPr id="145" name="Rectangle 144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>
                <a:solidFill>
                  <a:srgbClr val="0F172A"/>
                </a:solidFill>
                <a:latin typeface="Arial"/>
              </a:defRPr>
            </a:pPr>
          </a:p>
        </p:txBody>
      </p:sp>
      <p:sp>
        <p:nvSpPr>
          <p:cNvPr id="146" name="TextBox 145"/>
          <p:cNvSpPr txBox="1"/>
          <p:nvPr/>
        </p:nvSpPr>
        <p:spPr>
          <a:xfrm>
            <a:off x="6583680" y="1097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0F172A"/>
                </a:solidFill>
                <a:latin typeface="Arial"/>
              </a:defRPr>
            </a:pPr>
            <a:r>
              <a:t>SPECSENSE | PRODUCT INTELLIGENCE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  <a:effectLst/>
      </p:bgPr>
    </p:bg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3"/>
          <p:cNvSpPr txBox="1"/>
          <p:nvPr/>
        </p:nvSpPr>
        <p:spPr>
          <a:xfrm>
            <a:off x="171050" y="867425"/>
            <a:ext cx="88209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  <a:buClr>
                <a:srgbClr val="000000"/>
              </a:buClr>
              <a:buSzPts val="1800"/>
              <a:buFont typeface="Arial"/>
              <a:buNone/>
              <a:defRPr sz="2400" b="1" i="0">
                <a:solidFill>
                  <a:srgbClr val="0F172A"/>
                </a:solidFill>
                <a:latin typeface="Arial"/>
              </a:defRPr>
            </a:pPr>
            <a:r>
              <a:t>Architecture diagram of the proposed solution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150" name="Picture 149" descr="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440180"/>
            <a:ext cx="8229600" cy="3188970"/>
          </a:xfrm>
          <a:prstGeom prst="rect">
            <a:avLst/>
          </a:prstGeom>
        </p:spPr>
      </p:pic>
      <p:sp>
        <p:nvSpPr>
          <p:cNvPr id="151" name="Rectangle 15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>
                <a:solidFill>
                  <a:srgbClr val="0F172A"/>
                </a:solidFill>
                <a:latin typeface="Arial"/>
              </a:defRPr>
            </a:pPr>
          </a:p>
        </p:txBody>
      </p:sp>
      <p:sp>
        <p:nvSpPr>
          <p:cNvPr id="152" name="TextBox 151"/>
          <p:cNvSpPr txBox="1"/>
          <p:nvPr/>
        </p:nvSpPr>
        <p:spPr>
          <a:xfrm>
            <a:off x="6583680" y="1097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0F172A"/>
                </a:solidFill>
                <a:latin typeface="Arial"/>
              </a:defRPr>
            </a:pPr>
            <a:r>
              <a:t>SPECSENSE | PRODUCT INTELLIGENCE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  <a:effectLst/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4"/>
          <p:cNvSpPr txBox="1"/>
          <p:nvPr/>
        </p:nvSpPr>
        <p:spPr>
          <a:xfrm>
            <a:off x="158825" y="855225"/>
            <a:ext cx="8784300" cy="112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  <a:buClr>
                <a:srgbClr val="000000"/>
              </a:buClr>
              <a:buSzPts val="1800"/>
              <a:buFont typeface="Arial"/>
              <a:buNone/>
              <a:defRPr sz="2400" b="1" i="0">
                <a:solidFill>
                  <a:srgbClr val="0F172A"/>
                </a:solidFill>
                <a:latin typeface="Arial"/>
              </a:defRPr>
            </a:pPr>
            <a:r>
              <a:t>Technologies used in the solution</a:t>
            </a:r>
            <a:endParaRPr b="0" i="0" sz="12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>
              <a:spcAft>
                <a:spcPts val="600"/>
              </a:spcAft>
              <a:defRPr>
                <a:solidFill>
                  <a:srgbClr val="334155"/>
                </a:solidFill>
                <a:latin typeface="Arial"/>
              </a:defRPr>
            </a:pPr>
            <a:r>
              <a:rPr b="1" sz="1200">
                <a:solidFill>
                  <a:srgbClr val="1E293B"/>
                </a:solidFill>
                <a:latin typeface="Arial"/>
              </a:rPr>
              <a:t>• Core Backend Framework: </a:t>
            </a:r>
            <a:r>
              <a:rPr b="0" sz="1200">
                <a:latin typeface="Arial"/>
              </a:rPr>
              <a:t>FastAPI, Uvicorn, Python 3.11</a:t>
            </a:r>
          </a:p>
          <a:p>
            <a:pPr>
              <a:spcAft>
                <a:spcPts val="600"/>
              </a:spcAft>
              <a:defRPr>
                <a:solidFill>
                  <a:srgbClr val="334155"/>
                </a:solidFill>
                <a:latin typeface="Arial"/>
              </a:defRPr>
            </a:pPr>
            <a:r>
              <a:rPr b="1" sz="1200">
                <a:solidFill>
                  <a:srgbClr val="1E293B"/>
                </a:solidFill>
                <a:latin typeface="Arial"/>
              </a:rPr>
              <a:t>• Frontend UI Client: </a:t>
            </a:r>
            <a:r>
              <a:rPr b="0" sz="1200">
                <a:latin typeface="Arial"/>
              </a:rPr>
              <a:t>Vanilla HTML5, Vanilla CSS3 (Custom Responsive Grid), JavaScript (ES6)</a:t>
            </a:r>
          </a:p>
          <a:p>
            <a:pPr>
              <a:spcAft>
                <a:spcPts val="600"/>
              </a:spcAft>
              <a:defRPr>
                <a:solidFill>
                  <a:srgbClr val="334155"/>
                </a:solidFill>
                <a:latin typeface="Arial"/>
              </a:defRPr>
            </a:pPr>
            <a:r>
              <a:rPr b="1" sz="1200">
                <a:solidFill>
                  <a:srgbClr val="1E293B"/>
                </a:solidFill>
                <a:latin typeface="Arial"/>
              </a:rPr>
              <a:t>• Large Language Models: </a:t>
            </a:r>
            <a:r>
              <a:rPr b="0" sz="1200">
                <a:latin typeface="Arial"/>
              </a:rPr>
              <a:t>Google Gemini 2.5 Flash, Groq Cloud (Qwen 3.6 27B / GPT-OSS 120B)</a:t>
            </a:r>
          </a:p>
          <a:p>
            <a:pPr>
              <a:spcAft>
                <a:spcPts val="600"/>
              </a:spcAft>
              <a:defRPr>
                <a:solidFill>
                  <a:srgbClr val="334155"/>
                </a:solidFill>
                <a:latin typeface="Arial"/>
              </a:defRPr>
            </a:pPr>
            <a:r>
              <a:t>• Search &amp; Web Discovery: DuckDuckGo Lite &amp; Bing (Zero-Quota, Unlimited), BeautifulSoup4, HTTPX</a:t>
            </a:r>
          </a:p>
          <a:p>
            <a:pPr>
              <a:spcAft>
                <a:spcPts val="600"/>
              </a:spcAft>
              <a:defRPr>
                <a:solidFill>
                  <a:srgbClr val="334155"/>
                </a:solidFill>
                <a:latin typeface="Arial"/>
              </a:defRPr>
            </a:pPr>
            <a:r>
              <a:rPr b="1" sz="1200">
                <a:solidFill>
                  <a:srgbClr val="1E293B"/>
                </a:solidFill>
                <a:latin typeface="Arial"/>
              </a:rPr>
              <a:t>• RAG Store &amp; Search: </a:t>
            </a:r>
            <a:r>
              <a:rPr b="0" sz="1200">
                <a:latin typeface="Arial"/>
              </a:rPr>
              <a:t>TF-IDF Local Keyword Matching Engine</a:t>
            </a:r>
          </a:p>
          <a:p>
            <a:pPr>
              <a:spcAft>
                <a:spcPts val="600"/>
              </a:spcAft>
              <a:defRPr>
                <a:solidFill>
                  <a:srgbClr val="334155"/>
                </a:solidFill>
                <a:latin typeface="Arial"/>
              </a:defRPr>
            </a:pPr>
            <a:r>
              <a:rPr b="1" sz="1200">
                <a:solidFill>
                  <a:srgbClr val="1E293B"/>
                </a:solidFill>
                <a:latin typeface="Arial"/>
              </a:rPr>
              <a:t>• Reference Data standardizing: </a:t>
            </a:r>
            <a:r>
              <a:rPr b="0" sz="1200">
                <a:latin typeface="Arial"/>
              </a:rPr>
              <a:t>Controlled Vocabulary csv parsing (Brands, UOMs, Fittings)</a:t>
            </a:r>
          </a:p>
          <a:p>
            <a:pPr>
              <a:spcAft>
                <a:spcPts val="600"/>
              </a:spcAft>
              <a:defRPr>
                <a:solidFill>
                  <a:srgbClr val="334155"/>
                </a:solidFill>
                <a:latin typeface="Arial"/>
              </a:defRPr>
            </a:pPr>
            <a:r>
              <a:rPr b="1" sz="1200">
                <a:solidFill>
                  <a:srgbClr val="1E293B"/>
                </a:solidFill>
                <a:latin typeface="Arial"/>
              </a:rPr>
              <a:t>• Deployment &amp; Hosting: </a:t>
            </a:r>
            <a:r>
              <a:rPr b="0" sz="1200">
                <a:latin typeface="Arial"/>
              </a:rPr>
              <a:t>Render.com Web Services (Auto-deploy via Git commits)</a:t>
            </a:r>
          </a:p>
          <a:p>
            <a:pPr>
              <a:defRPr sz="1150">
                <a:solidFill>
                  <a:srgbClr val="334155"/>
                </a:solidFill>
                <a:latin typeface="Arial"/>
              </a:defRPr>
            </a:pPr>
            <a:r>
              <a:t>• Storage &amp; Cache Layer: Persistent SQLite Engine with 0ms cache hits, review queue audit log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>
                <a:solidFill>
                  <a:srgbClr val="0F172A"/>
                </a:solidFill>
                <a:latin typeface="Arial"/>
              </a:defRPr>
            </a:pPr>
          </a:p>
        </p:txBody>
      </p:sp>
      <p:sp>
        <p:nvSpPr>
          <p:cNvPr id="157" name="TextBox 156"/>
          <p:cNvSpPr txBox="1"/>
          <p:nvPr/>
        </p:nvSpPr>
        <p:spPr>
          <a:xfrm>
            <a:off x="6583680" y="1097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0F172A"/>
                </a:solidFill>
                <a:latin typeface="Arial"/>
              </a:defRPr>
            </a:pPr>
            <a:r>
              <a:t>SPECSENSE | PRODUCT INTELLIGENCE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  <a:effectLst/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35"/>
          <p:cNvSpPr txBox="1"/>
          <p:nvPr/>
        </p:nvSpPr>
        <p:spPr>
          <a:xfrm>
            <a:off x="158825" y="818550"/>
            <a:ext cx="8845200" cy="63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rgbClr val="000000"/>
              </a:buClr>
              <a:buSzPts val="1800"/>
              <a:buFont typeface="Arial"/>
              <a:buNone/>
              <a:defRPr sz="2400" b="1" i="0">
                <a:solidFill>
                  <a:srgbClr val="0F172A"/>
                </a:solidFill>
                <a:latin typeface="Arial"/>
              </a:defRPr>
            </a:pPr>
            <a:r>
              <a:t>Estimated implementation cost (optional)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>
              <a:spcAft>
                <a:spcPts val="700"/>
              </a:spcAft>
              <a:defRPr>
                <a:solidFill>
                  <a:srgbClr val="334155"/>
                </a:solidFill>
                <a:latin typeface="Arial"/>
              </a:defRPr>
            </a:pPr>
            <a:r>
              <a:rPr sz="1200" b="1">
                <a:solidFill>
                  <a:srgbClr val="0F172A"/>
                </a:solidFill>
                <a:latin typeface="Arial"/>
              </a:rPr>
              <a:t>•  Search &amp; Web Discovery ($0.00): </a:t>
            </a:r>
            <a:r>
              <a:rPr sz="1150" b="0">
                <a:solidFill>
                  <a:srgbClr val="475569"/>
                </a:solidFill>
                <a:latin typeface="Arial"/>
              </a:rPr>
              <a:t>DuckDuckGo Lite &amp; Bing headless scraping eliminates expensive search APIs (saving $50–$250/mo in SerpAPI fees) with unlimited zero-quota scaling.</a:t>
            </a:r>
          </a:p>
          <a:p>
            <a:pPr>
              <a:spcAft>
                <a:spcPts val="700"/>
              </a:spcAft>
              <a:defRPr>
                <a:solidFill>
                  <a:srgbClr val="334155"/>
                </a:solidFill>
                <a:latin typeface="Arial"/>
              </a:defRPr>
            </a:pPr>
            <a:r>
              <a:rPr sz="1200" b="1">
                <a:solidFill>
                  <a:srgbClr val="0F172A"/>
                </a:solidFill>
                <a:latin typeface="Arial"/>
              </a:rPr>
              <a:t>•  Multi-Model AI Inference ($0.00): </a:t>
            </a:r>
            <a:r>
              <a:rPr sz="1150" b="0">
                <a:solidFill>
                  <a:srgbClr val="475569"/>
                </a:solidFill>
                <a:latin typeface="Arial"/>
              </a:rPr>
              <a:t>Google Gemini 2.5 Flash Free Tier with automatic fallback to Groq Developer Cloud (Qwen 3.6 27B / LLaMA 3.3) for 100% uptime at zero API cost.</a:t>
            </a:r>
          </a:p>
          <a:p>
            <a:pPr>
              <a:spcAft>
                <a:spcPts val="700"/>
              </a:spcAft>
              <a:defRPr>
                <a:solidFill>
                  <a:srgbClr val="334155"/>
                </a:solidFill>
                <a:latin typeface="Arial"/>
              </a:defRPr>
            </a:pPr>
            <a:r>
              <a:rPr sz="1200" b="1">
                <a:solidFill>
                  <a:srgbClr val="0F172A"/>
                </a:solidFill>
                <a:latin typeface="Arial"/>
              </a:rPr>
              <a:t>•  Persistent SQLite Storage ($0.00): </a:t>
            </a:r>
            <a:r>
              <a:rPr sz="1150" b="0">
                <a:solidFill>
                  <a:srgbClr val="475569"/>
                </a:solidFill>
                <a:latin typeface="Arial"/>
              </a:rPr>
              <a:t>Local disk SQLite cache stores enriched SKUs, query results, and review audit logs with 0ms retrieval and zero database hosting fees.</a:t>
            </a:r>
          </a:p>
          <a:p>
            <a:pPr>
              <a:spcAft>
                <a:spcPts val="700"/>
              </a:spcAft>
              <a:defRPr>
                <a:solidFill>
                  <a:srgbClr val="334155"/>
                </a:solidFill>
                <a:latin typeface="Arial"/>
              </a:defRPr>
            </a:pPr>
            <a:r>
              <a:rPr sz="1200" b="1">
                <a:solidFill>
                  <a:srgbClr val="0F172A"/>
                </a:solidFill>
                <a:latin typeface="Arial"/>
              </a:rPr>
              <a:t>•  Cloud Application Hosting ($0.00): </a:t>
            </a:r>
            <a:r>
              <a:rPr sz="1150" b="0">
                <a:solidFill>
                  <a:srgbClr val="475569"/>
                </a:solidFill>
                <a:latin typeface="Arial"/>
              </a:rPr>
              <a:t>Deployed on Render.com's Free Web Service tier (FastAPI backend + lightweight vanilla HTML/CSS/JS frontend).</a:t>
            </a:r>
          </a:p>
          <a:p>
            <a:pPr>
              <a:spcAft>
                <a:spcPts val="700"/>
              </a:spcAft>
              <a:defRPr>
                <a:solidFill>
                  <a:srgbClr val="334155"/>
                </a:solidFill>
                <a:latin typeface="Arial"/>
              </a:defRPr>
            </a:pPr>
            <a:r>
              <a:rPr sz="1200" b="1">
                <a:solidFill>
                  <a:srgbClr val="0F172A"/>
                </a:solidFill>
                <a:latin typeface="Arial"/>
              </a:rPr>
              <a:t>•  Enterprise Distributor ROI: </a:t>
            </a:r>
            <a:r>
              <a:rPr sz="1150" b="0">
                <a:solidFill>
                  <a:srgbClr val="475569"/>
                </a:solidFill>
                <a:latin typeface="Arial"/>
              </a:rPr>
              <a:t>Benchmarked against $15.00/SKU and 18 minutes manual entry labor; automating a 10,000-SKU catalog saves ~$150,000 and 3,000 engineering hours.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>
                <a:solidFill>
                  <a:srgbClr val="0F172A"/>
                </a:solidFill>
                <a:latin typeface="Arial"/>
              </a:defRPr>
            </a:pPr>
          </a:p>
        </p:txBody>
      </p:sp>
      <p:sp>
        <p:nvSpPr>
          <p:cNvPr id="163" name="TextBox 162"/>
          <p:cNvSpPr txBox="1"/>
          <p:nvPr/>
        </p:nvSpPr>
        <p:spPr>
          <a:xfrm>
            <a:off x="6583680" y="1097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0F172A"/>
                </a:solidFill>
                <a:latin typeface="Arial"/>
              </a:defRPr>
            </a:pPr>
            <a:r>
              <a:t>SPECSENSE | PRODUCT INTELLIGENCE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  <a:effectLst/>
      </p:bgPr>
    </p:bg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36"/>
          <p:cNvSpPr txBox="1"/>
          <p:nvPr/>
        </p:nvSpPr>
        <p:spPr>
          <a:xfrm>
            <a:off x="219900" y="855225"/>
            <a:ext cx="87231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2400" b="1">
                <a:solidFill>
                  <a:srgbClr val="0F172A"/>
                </a:solidFill>
                <a:latin typeface="Arial"/>
              </a:defRPr>
            </a:pPr>
            <a:r>
              <a:t>Snapshots of the MVP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168" name="Picture_MVP_12" descr="slide_12_mvp_snapsh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435608"/>
            <a:ext cx="8229600" cy="3154680"/>
          </a:xfrm>
          <a:prstGeom prst="rect">
            <a:avLst/>
          </a:prstGeom>
        </p:spPr>
      </p:pic>
      <p:sp>
        <p:nvSpPr>
          <p:cNvPr id="169" name="Rectangle 168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>
                <a:solidFill>
                  <a:srgbClr val="0F172A"/>
                </a:solidFill>
                <a:latin typeface="Arial"/>
              </a:defRPr>
            </a:pPr>
          </a:p>
        </p:txBody>
      </p:sp>
      <p:sp>
        <p:nvSpPr>
          <p:cNvPr id="170" name="TextBox 169"/>
          <p:cNvSpPr txBox="1"/>
          <p:nvPr/>
        </p:nvSpPr>
        <p:spPr>
          <a:xfrm>
            <a:off x="6583680" y="1097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0F172A"/>
                </a:solidFill>
                <a:latin typeface="Arial"/>
              </a:defRPr>
            </a:pPr>
            <a:r>
              <a:t>SPECSENSE | PRODUCT INTELLIGENCE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  <a:effectLst/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37"/>
          <p:cNvSpPr txBox="1"/>
          <p:nvPr/>
        </p:nvSpPr>
        <p:spPr>
          <a:xfrm>
            <a:off x="109950" y="781900"/>
            <a:ext cx="8894100" cy="69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rgbClr val="000000"/>
              </a:buClr>
              <a:buSzPts val="1800"/>
              <a:buFont typeface="Arial"/>
              <a:buNone/>
              <a:defRPr sz="2400" b="1" i="0">
                <a:solidFill>
                  <a:srgbClr val="0F172A"/>
                </a:solidFill>
                <a:latin typeface="Arial"/>
              </a:defRPr>
            </a:pPr>
            <a:r>
              <a:t>Additional Details/Future Development (if any)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>
              <a:spcAft>
                <a:spcPts val="800"/>
              </a:spcAft>
              <a:defRPr>
                <a:solidFill>
                  <a:srgbClr val="334155"/>
                </a:solidFill>
                <a:latin typeface="Arial"/>
              </a:defRPr>
            </a:pPr>
            <a:r>
              <a:rPr sz="1200" b="1">
                <a:solidFill>
                  <a:srgbClr val="0F172A"/>
                </a:solidFill>
                <a:latin typeface="Arial"/>
              </a:rPr>
              <a:t>•  Native PIM / ERP Connectors: </a:t>
            </a:r>
            <a:r>
              <a:rPr sz="1150" b="0">
                <a:solidFill>
                  <a:srgbClr val="475569"/>
                </a:solidFill>
                <a:latin typeface="Arial"/>
              </a:rPr>
              <a:t>Direct bi-directional API synchronization with enterprise catalog systems including SAP Commerce Cloud, Akeneo, and EnterWorks.</a:t>
            </a:r>
          </a:p>
          <a:p>
            <a:pPr>
              <a:spcAft>
                <a:spcPts val="800"/>
              </a:spcAft>
              <a:defRPr>
                <a:solidFill>
                  <a:srgbClr val="334155"/>
                </a:solidFill>
                <a:latin typeface="Arial"/>
              </a:defRPr>
            </a:pPr>
            <a:r>
              <a:rPr sz="1200" b="1">
                <a:solidFill>
                  <a:srgbClr val="0F172A"/>
                </a:solidFill>
                <a:latin typeface="Arial"/>
              </a:rPr>
              <a:t>•  Multi-Modal CAD &amp; Technical Drawing Parsing: </a:t>
            </a:r>
            <a:r>
              <a:rPr sz="1150" b="0">
                <a:solidFill>
                  <a:srgbClr val="475569"/>
                </a:solidFill>
                <a:latin typeface="Arial"/>
              </a:rPr>
              <a:t>Incorporating vision LLMs to extract dimension tables directly from engineering PDF blueprints and packaging labels.</a:t>
            </a:r>
          </a:p>
          <a:p>
            <a:pPr>
              <a:spcAft>
                <a:spcPts val="800"/>
              </a:spcAft>
              <a:defRPr>
                <a:solidFill>
                  <a:srgbClr val="334155"/>
                </a:solidFill>
                <a:latin typeface="Arial"/>
              </a:defRPr>
            </a:pPr>
            <a:r>
              <a:rPr sz="1200" b="1">
                <a:solidFill>
                  <a:srgbClr val="0F172A"/>
                </a:solidFill>
                <a:latin typeface="Arial"/>
              </a:rPr>
              <a:t>•  Autonomous Vocabulary Expansion: </a:t>
            </a:r>
            <a:r>
              <a:rPr sz="1150" b="0">
                <a:solidFill>
                  <a:srgbClr val="475569"/>
                </a:solidFill>
                <a:latin typeface="Arial"/>
              </a:rPr>
              <a:t>Automated learning loop where approved human review edits continuously train classification and brand alias models.</a:t>
            </a:r>
          </a:p>
          <a:p>
            <a:pPr>
              <a:spcAft>
                <a:spcPts val="800"/>
              </a:spcAft>
              <a:defRPr>
                <a:solidFill>
                  <a:srgbClr val="334155"/>
                </a:solidFill>
                <a:latin typeface="Arial"/>
              </a:defRPr>
            </a:pPr>
            <a:r>
              <a:rPr sz="1200" b="1">
                <a:solidFill>
                  <a:srgbClr val="0F172A"/>
                </a:solidFill>
                <a:latin typeface="Arial"/>
              </a:rPr>
              <a:t>•  High-Throughput Distributed Cluster: </a:t>
            </a:r>
            <a:r>
              <a:rPr sz="1150" b="0">
                <a:solidFill>
                  <a:srgbClr val="475569"/>
                </a:solidFill>
                <a:latin typeface="Arial"/>
              </a:rPr>
              <a:t>Migrating batch workers to Celery/Redis queue for enterprise-scale processing of 500,000+ SKU catalog migrations.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>
                <a:solidFill>
                  <a:srgbClr val="0F172A"/>
                </a:solidFill>
                <a:latin typeface="Arial"/>
              </a:defRPr>
            </a:pPr>
          </a:p>
        </p:txBody>
      </p:sp>
      <p:sp>
        <p:nvSpPr>
          <p:cNvPr id="175" name="TextBox 174"/>
          <p:cNvSpPr txBox="1"/>
          <p:nvPr/>
        </p:nvSpPr>
        <p:spPr>
          <a:xfrm>
            <a:off x="6583680" y="1097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0F172A"/>
                </a:solidFill>
                <a:latin typeface="Arial"/>
              </a:defRPr>
            </a:pPr>
            <a:r>
              <a:t>SPECSENSE | PRODUCT INTELLIGENCE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  <a:effectLst/>
      </p:bgPr>
    </p:bg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38"/>
          <p:cNvSpPr txBox="1"/>
          <p:nvPr/>
        </p:nvSpPr>
        <p:spPr>
          <a:xfrm>
            <a:off x="146600" y="843000"/>
            <a:ext cx="8833200" cy="63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  <a:buClr>
                <a:srgbClr val="000000"/>
              </a:buClr>
              <a:buSzPts val="1800"/>
              <a:buFont typeface="Arial"/>
              <a:buNone/>
              <a:defRPr sz="2400" b="1">
                <a:solidFill>
                  <a:srgbClr val="0F172A"/>
                </a:solidFill>
                <a:latin typeface="Arial"/>
              </a:defRPr>
            </a:pPr>
            <a:r>
              <a:t>Provide links to your: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>
              <a:spcAft>
                <a:spcPts val="900"/>
              </a:spcAft>
              <a:defRPr>
                <a:solidFill>
                  <a:srgbClr val="334155"/>
                </a:solidFill>
                <a:latin typeface="Arial"/>
              </a:defRPr>
            </a:pPr>
            <a:r>
              <a:t>•  GitHub Public Repository: https://github.com/srivardhxn/Specsense</a:t>
            </a:r>
          </a:p>
          <a:p>
            <a:pPr>
              <a:spcAft>
                <a:spcPts val="900"/>
              </a:spcAft>
              <a:defRPr>
                <a:solidFill>
                  <a:srgbClr val="334155"/>
                </a:solidFill>
                <a:latin typeface="Arial"/>
              </a:defRPr>
            </a:pPr>
            <a:r>
              <a:rPr sz="1300" b="1">
                <a:solidFill>
                  <a:srgbClr val="0F172A"/>
                </a:solidFill>
                <a:latin typeface="Arial"/>
              </a:rPr>
              <a:t>•  Working Web Prototype: </a:t>
            </a:r>
            <a:r>
              <a:rPr sz="1300" b="0">
                <a:solidFill>
                  <a:srgbClr val="2563EB"/>
                </a:solidFill>
                <a:latin typeface="Arial"/>
              </a:rPr>
              <a:t>http://localhost:8000 (FastAPI + Modern Web Client)</a:t>
            </a:r>
          </a:p>
          <a:p>
            <a:pPr>
              <a:spcAft>
                <a:spcPts val="900"/>
              </a:spcAft>
              <a:defRPr>
                <a:solidFill>
                  <a:srgbClr val="334155"/>
                </a:solidFill>
                <a:latin typeface="Arial"/>
              </a:defRPr>
            </a:pPr>
            <a:r>
              <a:t>•  Production Hosted URL: https://specsense.onrender.com</a:t>
            </a:r>
          </a:p>
          <a:p>
            <a:pPr>
              <a:spcAft>
                <a:spcPts val="900"/>
              </a:spcAft>
              <a:defRPr>
                <a:solidFill>
                  <a:srgbClr val="334155"/>
                </a:solidFill>
                <a:latin typeface="Arial"/>
              </a:defRPr>
            </a:pPr>
            <a:r>
              <a:rPr sz="1300" b="1">
                <a:solidFill>
                  <a:srgbClr val="0F172A"/>
                </a:solidFill>
                <a:latin typeface="Arial"/>
              </a:rPr>
              <a:t>•  3-Minute Demo Video: </a:t>
            </a:r>
            <a:r>
              <a:rPr sz="1300" b="0">
                <a:solidFill>
                  <a:srgbClr val="2563EB"/>
                </a:solidFill>
                <a:latin typeface="Arial"/>
              </a:rPr>
              <a:t>https://youtu.be/specsense-demo (or Loom Video Walkthrough)</a:t>
            </a:r>
          </a:p>
          <a:p>
            <a:pPr>
              <a:spcAft>
                <a:spcPts val="900"/>
              </a:spcAft>
              <a:defRPr>
                <a:solidFill>
                  <a:srgbClr val="334155"/>
                </a:solidFill>
                <a:latin typeface="Arial"/>
              </a:defRPr>
            </a:pPr>
            <a:r>
              <a:rPr sz="1300" b="1">
                <a:solidFill>
                  <a:srgbClr val="0F172A"/>
                </a:solidFill>
                <a:latin typeface="Arial"/>
              </a:rPr>
              <a:t>•  Interactive API Docs (Swagger): </a:t>
            </a:r>
            <a:r>
              <a:rPr sz="1300" b="0">
                <a:solidFill>
                  <a:srgbClr val="2563EB"/>
                </a:solidFill>
                <a:latin typeface="Arial"/>
              </a:rPr>
              <a:t>http://localhost:8000/docs (OpenAPI 3.0)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>
                <a:solidFill>
                  <a:srgbClr val="0F172A"/>
                </a:solidFill>
                <a:latin typeface="Arial"/>
              </a:defRPr>
            </a:pPr>
          </a:p>
        </p:txBody>
      </p:sp>
      <p:sp>
        <p:nvSpPr>
          <p:cNvPr id="181" name="TextBox 180"/>
          <p:cNvSpPr txBox="1"/>
          <p:nvPr/>
        </p:nvSpPr>
        <p:spPr>
          <a:xfrm>
            <a:off x="6583680" y="1097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0F172A"/>
                </a:solidFill>
                <a:latin typeface="Arial"/>
              </a:defRPr>
            </a:pPr>
            <a:r>
              <a:t>SPECSENSE | PRODUCT INTELLIGENCE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