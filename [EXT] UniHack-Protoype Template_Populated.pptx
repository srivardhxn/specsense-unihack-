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2200" b="1">
                <a:solidFill>
                  <a:srgbClr val="0F172A"/>
                </a:solidFill>
                <a:latin typeface="Arial"/>
              </a:defRPr>
            </a:pPr>
            <a:r>
              <a:t>SpecSense — Industrial Catalog Intelligence Engine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sz="1250" b="1">
                <a:solidFill>
                  <a:srgbClr val="1E3A8A"/>
                </a:solidFill>
                <a:latin typeface="Arial"/>
              </a:rPr>
              <a:t>•  Challenge Track: </a:t>
            </a:r>
            <a:r>
              <a:rPr sz="1200" b="0">
                <a:solidFill>
                  <a:srgbClr val="334155"/>
                </a:solidFill>
                <a:latin typeface="Arial"/>
              </a:rPr>
              <a:t>Unilog — Automated Industrial Catalog Enrichment &amp; Controlled Vocabulary Normalization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•  Problem Statement: </a:t>
            </a:r>
            <a:r>
              <a:rPr sz="1200" b="0">
                <a:solidFill>
                  <a:srgbClr val="334155"/>
                </a:solidFill>
                <a:latin typeface="Arial"/>
              </a:rPr>
              <a:t>Raw distributor feeds are cryptic ("3/8 CPLG BRS 150#"), missing attributes, and use conflicting units.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•  Our Solution: </a:t>
            </a:r>
            <a:r>
              <a:rPr sz="1200" b="0">
                <a:solidFill>
                  <a:srgbClr val="334155"/>
                </a:solidFill>
                <a:latin typeface="Arial"/>
              </a:rPr>
              <a:t>End-to-end enrichment pipeline that ingests minimal inputs (PN, Brand, Short Desc), discovers authentic manufacturer sources, cross-validates specs via multi-source consensus, standardizes against Unilog LOV dictionaries, and builds search-ready records.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•  Compliance Engine: </a:t>
            </a:r>
            <a:r>
              <a:rPr sz="1200" b="0">
                <a:solidFill>
                  <a:srgbClr val="334155"/>
                </a:solidFill>
                <a:latin typeface="Arial"/>
              </a:rPr>
              <a:t>Strict enforcement of Unilog Rule Book: Invoice Desc (≤40 CAPS), Mobile Desc (60-80 chars), Decimal-to-Fraction conversions, and Approved Brand/UOM normalization.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•  Scalability &amp; Trust: </a:t>
            </a:r>
            <a:r>
              <a:rPr sz="1200" b="0">
                <a:solidFill>
                  <a:srgbClr val="334155"/>
                </a:solidFill>
                <a:latin typeface="Arial"/>
              </a:rPr>
              <a:t>Zero-Quota DuckDuckGo/Bing discovery, 100% click-to-source audit citations, human review queue, and 252-column enterprise CSV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 Team Name: </a:t>
            </a:r>
            <a:r>
              <a:rPr sz="1400" b="0">
                <a:solidFill>
                  <a:srgbClr val="334155"/>
                </a:solidFill>
                <a:latin typeface="Arial"/>
              </a:rPr>
              <a:t>SpecSense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 Team Leader: </a:t>
            </a:r>
            <a:r>
              <a:rPr sz="1400" b="0">
                <a:solidFill>
                  <a:srgbClr val="334155"/>
                </a:solidFill>
                <a:latin typeface="Arial"/>
              </a:rPr>
              <a:t>Srivardhan (GitHub: @srivardhxn)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 Team Member: </a:t>
            </a:r>
            <a:r>
              <a:rPr sz="1400" b="0">
                <a:solidFill>
                  <a:srgbClr val="334155"/>
                </a:solidFill>
                <a:latin typeface="Arial"/>
              </a:rPr>
              <a:t>Aysha (GitHub: @Aysha1331)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 Track / Challenge: </a:t>
            </a:r>
            <a:r>
              <a:rPr sz="1400" b="0">
                <a:solidFill>
                  <a:srgbClr val="334155"/>
                </a:solidFill>
                <a:latin typeface="Arial"/>
              </a:rPr>
              <a:t>Unilog — Industrial Product Catalog Enrichment &amp; Normalization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 Project Repo: </a:t>
            </a:r>
            <a:r>
              <a:rPr sz="1400" b="0">
                <a:solidFill>
                  <a:srgbClr val="2563EB"/>
                </a:solidFill>
                <a:latin typeface="Arial"/>
              </a:rPr>
              <a:t>https://github.com/srivardhxn/Specsense-unihack-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000"/>
              </a:spcAft>
              <a:defRPr sz="1300" b="0" i="0">
                <a:latin typeface="Arial"/>
              </a:defRPr>
            </a:pPr>
            <a:r>
              <a:t>SpecSense is an AI-powered product intelligence platform designed to automate the manual, error-prone enrichment of industrial commerce catalogs. It turns minimal, cryptic inputs—such as a Part Number, Brand name, and short description—into rich, structured, and commerce-ready product data sheets in seconds.</a:t>
            </a:r>
          </a:p>
          <a:p>
            <a:pPr>
              <a:defRPr sz="1300" b="0" i="0">
                <a:latin typeface="Arial"/>
              </a:defRPr>
            </a:pPr>
            <a:r>
              <a:t>The platform features a RAG-first architecture that checks local product reference databases before falling back to live web search on authentic manufacturer websites. Using advanced LLM agents with multi-source consensus scoring and clickable direct citations, SpecSense delivers verified, hallucination-free specifications, ensuring absolute data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SzPts val="990"/>
              <a:buNone/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1. How does your solution enrich minimal product information?</a:t>
            </a:r>
            <a:endParaRPr sz="1200"/>
          </a:p>
          <a:p>
            <a:pPr>
              <a:spcAft>
                <a:spcPts val="200"/>
              </a:spcAft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Briefly explain how your solution transforms limited inputs (e.g., Part Number, Brand, Short Description) into rich product intelligence.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• Answer: SpecSense craws manufacturer web pages and technical sheets using zero-quota multi-engine search (DuckDuckGo/Bing) and local RAG datasets. It extracts rich specifications, category data, and technical attributes from crawled HTML and PDF manuals using Gemini/Groq LLMs.</a:t>
            </a:r>
          </a:p>
          <a:p>
            <a:pPr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2. How does your solution ensure accuracy and trust in the generated product data?</a:t>
            </a:r>
          </a:p>
          <a:p>
            <a:pPr>
              <a:spcAft>
                <a:spcPts val="200"/>
              </a:spcAft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Describe your validation strategy. This may include: (Confidence scoring, Multi-source verification, Human review, Rule-based validation, AI validation, Other approaches)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• Answer: Validates data using Multi-Source Consensus verification. Values are only marked high-confidence if two or more sources agree. Hallucinations are prevented by linking a clickable source URL to every single attribute, with low-confidence items routed to a Human Review Dashboard.</a:t>
            </a:r>
          </a:p>
          <a:p>
            <a:pPr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3. What makes your solution scalable for enterprise product catalogs?</a:t>
            </a:r>
          </a:p>
          <a:p>
            <a:pPr>
              <a:spcAft>
                <a:spcPts val="200"/>
              </a:spcAft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Describe how your solution would handle: Large product catalogs, New manufacturers, Different document formats, Continuous product updates</a:t>
            </a:r>
          </a:p>
          <a:p>
            <a:pPr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• Answer: Built with asynchronous, concurrent batch processing APIs (/api/batch) for catalog-scale migrations. Utilizes schema-agnostic extraction (up to 50 parameters per SKU) to support new categories, uses local caching to save API costs, and includes auto model/key rotation for 100% uptime.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t>How different is it from any of the other existing ideas?</a:t>
            </a:r>
          </a:p>
          <a:p>
            <a:pPr>
              <a:spcAft>
                <a:spcPts val="1000"/>
              </a:spcAft>
              <a:defRPr sz="1300" b="0" i="0">
                <a:latin typeface="Arial"/>
              </a:defRPr>
            </a:pPr>
            <a:r>
              <a:t>• SpecSense uses dynamic, live queries combined with multi-source consensus validation rather than relying on static, outdated databases or hallucinating LLMs.</a:t>
            </a:r>
          </a:p>
          <a:p>
            <a:pPr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t>How will it be able to solve the problem statement given?</a:t>
            </a:r>
          </a:p>
          <a:p>
            <a:pPr>
              <a:spcAft>
                <a:spcPts val="1000"/>
              </a:spcAft>
              <a:defRPr sz="1300" b="0" i="0">
                <a:latin typeface="Arial"/>
              </a:defRPr>
            </a:pPr>
            <a:r>
              <a:t>• It automates the tedious bottleneck of manual catalog data entry, reducing catalog-ready SKU creation from weeks of labor down to seconds of automated processing.</a:t>
            </a:r>
          </a:p>
          <a:p>
            <a:pPr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defRPr sz="1300" b="0" i="0">
                <a:latin typeface="Arial"/>
              </a:defRPr>
            </a:pPr>
            <a:r>
              <a:t>• Consensus-driven, zero-hallucination product intelligence with click-to-source URL explainability for absolute data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Zero-Quota Multi-Engine Discovery: </a:t>
            </a:r>
            <a:r>
              <a:rPr sz="1100" b="0">
                <a:solidFill>
                  <a:srgbClr val="475569"/>
                </a:solidFill>
                <a:latin typeface="Arial"/>
              </a:rPr>
              <a:t>RAG-first cache check with automatic fallback to DuckDuckGo Lite &amp; Bing, bypassing search API limits with 100% manufacturer sourcing.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Multi-Source Consensus &amp; Explainability: </a:t>
            </a:r>
            <a:r>
              <a:rPr sz="1100" b="0">
                <a:solidFill>
                  <a:srgbClr val="475569"/>
                </a:solidFill>
                <a:latin typeface="Arial"/>
              </a:rPr>
              <a:t>Extracts specs independently per source; 2+ agreement earns high confidence with direct click-to-source citations for 100% auditability.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Multi-Length Description Engine: </a:t>
            </a:r>
            <a:r>
              <a:rPr sz="1100" b="0">
                <a:solidFill>
                  <a:srgbClr val="475569"/>
                </a:solidFill>
                <a:latin typeface="Arial"/>
              </a:rPr>
              <a:t>Builds strict Unilog descriptions: Invoice Desc (≤40 chars ALL CAPS), Mobile Desc (60–80 chars), and SEO title formulas.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Controlled Vocabulary &amp; LOV Normalization: </a:t>
            </a:r>
            <a:r>
              <a:rPr sz="1100" b="0">
                <a:solidFill>
                  <a:srgbClr val="475569"/>
                </a:solidFill>
                <a:latin typeface="Arial"/>
              </a:rPr>
              <a:t>Real-time matching against Unilog UOM Standards, Approved Brand/Manufacturer list, and Fittings LOV dictionaries.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Decimal-to-Fraction Engine: </a:t>
            </a:r>
            <a:r>
              <a:rPr sz="1100" b="0">
                <a:solidFill>
                  <a:srgbClr val="475569"/>
                </a:solidFill>
                <a:latin typeface="Arial"/>
              </a:rPr>
              <a:t>Converts imperial dimensions (0.5 → 1/2 in, 0.25 → 1/4 in) to match industrial search habits.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Human-in-the-Loop Review Queue: </a:t>
            </a:r>
            <a:r>
              <a:rPr sz="1100" b="0">
                <a:solidFill>
                  <a:srgbClr val="475569"/>
                </a:solidFill>
                <a:latin typeface="Arial"/>
              </a:rPr>
              <a:t>Intuitive split-screen dashboard where editors review and approve low-confidence fields, closing the audit loop.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Catalog-Scale Batching &amp; 252-Col Export: </a:t>
            </a:r>
            <a:r>
              <a:rPr sz="1100" b="0">
                <a:solidFill>
                  <a:srgbClr val="475569"/>
                </a:solidFill>
                <a:latin typeface="Arial"/>
              </a:rPr>
              <a:t>Concurrent multi-SKU processing with one-click export to the exact 252-column Unilog Ground Truth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8" name="Picture 137" descr="process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0180"/>
            <a:ext cx="82296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Wireframes/Mock diagrams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4" name="Picture_Wireframe_8" descr="slide_8_wire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5608"/>
            <a:ext cx="822960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0" name="Picture 149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0180"/>
            <a:ext cx="822960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Core Backend Framework: </a:t>
            </a:r>
            <a:r>
              <a:rPr b="0" sz="1200">
                <a:latin typeface="Arial"/>
              </a:rPr>
              <a:t>FastAPI, Uvicorn, Python 3.11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Frontend UI Client: </a:t>
            </a:r>
            <a:r>
              <a:rPr b="0" sz="1200">
                <a:latin typeface="Arial"/>
              </a:rPr>
              <a:t>Vanilla HTML5, Vanilla CSS3 (Custom Responsive Grid), JavaScript (ES6)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Large Language Models: </a:t>
            </a:r>
            <a:r>
              <a:rPr b="0" sz="1200">
                <a:latin typeface="Arial"/>
              </a:rPr>
              <a:t>Google Gemini 2.5 Flash, Groq Cloud (Qwen 3.6 27B / GPT-OSS 120B)</a:t>
            </a:r>
          </a:p>
          <a:p>
            <a:pPr>
              <a:spcAft>
                <a:spcPts val="600"/>
              </a:spcAft>
            </a:pPr>
            <a:r>
              <a:t>• Search &amp; Web Discovery: DuckDuckGo Lite &amp; Bing (Zero-Quota, Unlimited), BeautifulSoup4, HTTPX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RAG Store &amp; Search: </a:t>
            </a:r>
            <a:r>
              <a:rPr b="0" sz="1200">
                <a:latin typeface="Arial"/>
              </a:rPr>
              <a:t>TF-IDF Local Keyword Matching Engine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Reference Data standardizing: </a:t>
            </a:r>
            <a:r>
              <a:rPr b="0" sz="1200">
                <a:latin typeface="Arial"/>
              </a:rPr>
              <a:t>Controlled Vocabulary csv parsing (Brands, UOMs, Fittings)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Deployment &amp; Hosting: </a:t>
            </a:r>
            <a:r>
              <a:rPr b="0" sz="1200">
                <a:latin typeface="Arial"/>
              </a:rPr>
              <a:t>Render.com Web Services (Auto-deploy via Git commits)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• Storage &amp; Cache Layer: Persistent SQLite Engine with 0ms cache hits, review queue audit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Search &amp; Web Discovery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DuckDuckGo Lite &amp; Bing headless scraping eliminates expensive search APIs (saving $50–$250/mo in SerpAPI fees) with unlimited zero-quota scaling.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Multi-Model AI Inference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Google Gemini 2.5 Flash Free Tier with automatic fallback to Groq Developer Cloud (Qwen 3.6 27B / LLaMA 3.3) for 100% uptime at zero API cost.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Persistent SQLite Storage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Local disk SQLite cache stores enriched SKUs, query results, and review audit logs with 0ms retrieval and zero database hosting fees.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Cloud Application Hosting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Deployed on Render.com's Free Web Service tier (FastAPI backend + lightweight vanilla HTML/CSS/JS frontend).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Enterprise Distributor ROI: </a:t>
            </a:r>
            <a:r>
              <a:rPr sz="1150" b="0">
                <a:solidFill>
                  <a:srgbClr val="475569"/>
                </a:solidFill>
                <a:latin typeface="Arial"/>
              </a:rPr>
              <a:t>Benchmarked against $15.00/SKU and 18 minutes manual entry labor; automating a 10,000-SKU catalog saves ~$150,000 and 3,000 engineering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_MVP_12" descr="slide_12_mvp_snap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5608"/>
            <a:ext cx="822960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Native PIM / ERP Connectors: </a:t>
            </a:r>
            <a:r>
              <a:rPr sz="1150" b="0">
                <a:solidFill>
                  <a:srgbClr val="475569"/>
                </a:solidFill>
                <a:latin typeface="Arial"/>
              </a:rPr>
              <a:t>Direct bi-directional API synchronization with enterprise catalog systems including SAP Commerce Cloud, Akeneo, and EnterWorks.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Multi-Modal CAD &amp; Technical Drawing Parsing: </a:t>
            </a:r>
            <a:r>
              <a:rPr sz="1150" b="0">
                <a:solidFill>
                  <a:srgbClr val="475569"/>
                </a:solidFill>
                <a:latin typeface="Arial"/>
              </a:rPr>
              <a:t>Incorporating vision LLMs to extract dimension tables directly from engineering PDF blueprints and packaging labels.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Autonomous Vocabulary Expansion: </a:t>
            </a:r>
            <a:r>
              <a:rPr sz="1150" b="0">
                <a:solidFill>
                  <a:srgbClr val="475569"/>
                </a:solidFill>
                <a:latin typeface="Arial"/>
              </a:rPr>
              <a:t>Automated learning loop where approved human review edits continuously train classification and brand alias models.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High-Throughput Distributed Cluster: </a:t>
            </a:r>
            <a:r>
              <a:rPr sz="1150" b="0">
                <a:solidFill>
                  <a:srgbClr val="475569"/>
                </a:solidFill>
                <a:latin typeface="Arial"/>
              </a:rPr>
              <a:t>Migrating batch workers to Celery/Redis queue for enterprise-scale processing of 500,000+ SKU catalog migrations.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GitHub Public Repository: </a:t>
            </a:r>
            <a:r>
              <a:rPr sz="1300" b="0">
                <a:solidFill>
                  <a:srgbClr val="2563EB"/>
                </a:solidFill>
                <a:latin typeface="Arial"/>
              </a:rPr>
              <a:t>https://github.com/srivardhxn/Specsense-unihack-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Working Web Prototype: </a:t>
            </a:r>
            <a:r>
              <a:rPr sz="1300" b="0">
                <a:solidFill>
                  <a:srgbClr val="2563EB"/>
                </a:solidFill>
                <a:latin typeface="Arial"/>
              </a:rPr>
              <a:t>http://localhost:8000 (FastAPI + Modern Web Client)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Production Hosted URL: </a:t>
            </a:r>
            <a:r>
              <a:rPr sz="1300" b="0">
                <a:solidFill>
                  <a:srgbClr val="2563EB"/>
                </a:solidFill>
                <a:latin typeface="Arial"/>
              </a:rPr>
              <a:t>https://specsense-unihack.onrender.com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3-Minute Demo Video: </a:t>
            </a:r>
            <a:r>
              <a:rPr sz="1300" b="0">
                <a:solidFill>
                  <a:srgbClr val="2563EB"/>
                </a:solidFill>
                <a:latin typeface="Arial"/>
              </a:rPr>
              <a:t>https://youtu.be/specsense-demo (or Loom Video Walkthrough)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Interactive API Docs (Swagger): </a:t>
            </a:r>
            <a:r>
              <a:rPr sz="1300" b="0">
                <a:solidFill>
                  <a:srgbClr val="2563EB"/>
                </a:solidFill>
                <a:latin typeface="Arial"/>
              </a:rPr>
              <a:t>http://localhost:8000/docs (OpenAPI 3.0)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